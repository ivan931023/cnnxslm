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73152" cy="320040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9B71B"/>
                </a:solidFill>
                <a:latin typeface="Consolas"/>
              </a:rPr>
              <a:t>TECHNICAL RESEARCH BRIEF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深度學習結合 Zernike 參數辨識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之平頂光束自適應校正系統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 i="1">
                <a:solidFill>
                  <a:srgbClr val="E8F1F8"/>
                </a:solidFill>
                <a:latin typeface="Cambria"/>
              </a:rPr>
              <a:t>End-to-End Sensorless Adaptive Optics  ·  CNN ×  Fourier Optics  ·  SLM Closed-Loop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49527" y="4754880"/>
            <a:ext cx="310896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49527" y="4754880"/>
            <a:ext cx="73152" cy="123444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2407" y="48006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14-D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2407" y="528523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9B71B"/>
                </a:solidFill>
                <a:latin typeface="Calibri"/>
              </a:rPr>
              <a:t>Zernike 連續迴歸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2407" y="5577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E8F1F8"/>
                </a:solidFill>
                <a:latin typeface="Calibri"/>
              </a:rPr>
              <a:t>高維非線性解耦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1367" y="4754880"/>
            <a:ext cx="310896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41367" y="4754880"/>
            <a:ext cx="73152" cy="123444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4247" y="48006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247" y="528523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9B71B"/>
                </a:solidFill>
                <a:latin typeface="Calibri"/>
              </a:rPr>
              <a:t>GPU 加速資料集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247" y="5577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E8F1F8"/>
                </a:solidFill>
                <a:latin typeface="Calibri"/>
              </a:rPr>
              <a:t>Monte Carlo 抽樣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33207" y="4754880"/>
            <a:ext cx="3108960" cy="1234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33207" y="4754880"/>
            <a:ext cx="73152" cy="123444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6087" y="48006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&lt; 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6087" y="5285232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9B71B"/>
                </a:solidFill>
                <a:latin typeface="Calibri"/>
              </a:rPr>
              <a:t>目標不平整度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6087" y="5577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E8F1F8"/>
                </a:solidFill>
                <a:latin typeface="Calibri"/>
              </a:rPr>
              <a:t>閉迴路自適應補償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2636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E8F1F8"/>
                </a:solidFill>
                <a:latin typeface="Calibri"/>
              </a:rPr>
              <a:t>Ivan Chen  ·  CNN-SLM Project  ·  完整執行邏輯與技術細節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9B71B"/>
                </a:solidFill>
                <a:latin typeface="Consolas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291840" cy="1463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簡報目錄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 i="1">
                <a:solidFill>
                  <a:srgbClr val="E8F1F8"/>
                </a:solidFill>
                <a:latin typeface="Calibri"/>
              </a:rPr>
              <a:t>Project Roadmap</a:t>
            </a:r>
          </a:p>
        </p:txBody>
      </p:sp>
      <p:sp>
        <p:nvSpPr>
          <p:cNvPr id="7" name="Oval 6"/>
          <p:cNvSpPr/>
          <p:nvPr/>
        </p:nvSpPr>
        <p:spPr>
          <a:xfrm>
            <a:off x="4206240" y="64008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640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64008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緒論與研究動機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9509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問題、限制與創新性貢獻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1280160"/>
            <a:ext cx="67208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206240" y="1353312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3533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35331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閉迴路系統架構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66420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三大核心模組與資料流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92040" y="1993392"/>
            <a:ext cx="67208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206240" y="2066543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066543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066543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Zernike 像差物理理論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377439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正交基底、14 階模式與共軛補償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92040" y="2706623"/>
            <a:ext cx="67208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206240" y="2779776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7797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779776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純量傅立葉光學模型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09067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解析平頂相位與 IDFT 傳播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92040" y="3419856"/>
            <a:ext cx="67208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206240" y="3493008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4930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493008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高維採樣與 GPU 加速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803904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Monte Carlo 機制與 PyTorch MPS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92040" y="4133088"/>
            <a:ext cx="67208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206240" y="420624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0" y="4206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20624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CNN 架構與訓練策略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51713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Huber Loss、Adam、CosineAnnealing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892040" y="4846320"/>
            <a:ext cx="67208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206240" y="4919472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49194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40" y="491947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結果展示與自適應校正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523036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Flatness 量化與閉迴路收斂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92040" y="5559552"/>
            <a:ext cx="67208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206240" y="5632704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56327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563270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結論、挑戰與未來展望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94360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Domain Gap、Sim2Real、ResNet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01 · 緒論與研究動機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研究背景：為何需要無波前感測器自適應光學？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943600" cy="22860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065A82"/>
                </a:solidFill>
                <a:latin typeface="Calibri"/>
              </a:rPr>
              <a:t>核心目標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33D47"/>
                </a:solidFill>
                <a:latin typeface="Calibri"/>
              </a:rPr>
              <a:t/>
            </a:r>
            <a:r>
              <a:rPr sz="1400" b="0" i="0">
                <a:solidFill>
                  <a:srgbClr val="333D47"/>
                </a:solidFill>
                <a:latin typeface="Calibri"/>
              </a:rPr>
              <a:t>透過空間光調變器（SLM）動態調製入射光相位，使焦平面 CCD 成像形成接近理想的</a:t>
            </a:r>
            <a:r>
              <a:rPr sz="1400" b="1" i="0">
                <a:solidFill>
                  <a:srgbClr val="21295C"/>
                </a:solidFill>
                <a:latin typeface="Calibri"/>
              </a:rPr>
              <a:t>「平頂（Flat-top）光強分布」</a:t>
            </a:r>
            <a:r>
              <a:rPr sz="1400" b="0" i="0">
                <a:solidFill>
                  <a:srgbClr val="333D47"/>
                </a:solidFill>
                <a:latin typeface="Calibri"/>
              </a:rPr>
              <a:t>，廣泛應用於雷射加工、雷射美容、光刻系統等高功率均勻照射場景。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5943600" cy="27432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91440" cy="274320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E64A4A"/>
                </a:solidFill>
                <a:latin typeface="Calibri"/>
              </a:rPr>
              <a:t>現有人工調整法的瓶頸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5669280" cy="22860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失焦／散光／球差　</a:t>
            </a:r>
            <a:r>
              <a:rPr sz="1200">
                <a:solidFill>
                  <a:srgbClr val="333D47"/>
                </a:solidFill>
                <a:latin typeface="Calibri"/>
              </a:rPr>
              <a:t>  等非理想像差導致光斑變形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不平整度 ≥ 1%　</a:t>
            </a:r>
            <a:r>
              <a:rPr sz="1200">
                <a:solidFill>
                  <a:srgbClr val="333D47"/>
                </a:solidFill>
                <a:latin typeface="Calibri"/>
              </a:rPr>
              <a:t>  依靠人工掃描相位已達極限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Zernike 15 維　</a:t>
            </a:r>
            <a:r>
              <a:rPr sz="1200">
                <a:solidFill>
                  <a:srgbClr val="333D47"/>
                </a:solidFill>
                <a:latin typeface="Calibri"/>
              </a:rPr>
              <a:t>  搜尋空間呈指數爆炸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人工判讀效率低　</a:t>
            </a:r>
            <a:r>
              <a:rPr sz="1200">
                <a:solidFill>
                  <a:srgbClr val="333D47"/>
                </a:solidFill>
                <a:latin typeface="Calibri"/>
              </a:rPr>
              <a:t>  難以即時補償時變擾動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理想 vs. 受擾動光斑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00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Analytic flat-top （左）  vs.  含像差變形 （右）</a:t>
            </a:r>
          </a:p>
        </p:txBody>
      </p:sp>
      <p:pic>
        <p:nvPicPr>
          <p:cNvPr id="16" name="Picture 15" descr="analytic_flattop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65960"/>
            <a:ext cx="2468880" cy="2286000"/>
          </a:xfrm>
          <a:prstGeom prst="rect">
            <a:avLst/>
          </a:prstGeom>
        </p:spPr>
      </p:pic>
      <p:pic>
        <p:nvPicPr>
          <p:cNvPr id="17" name="Picture 16" descr="distorted_flattop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965960"/>
            <a:ext cx="2468880" cy="2286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766560" y="4434840"/>
            <a:ext cx="4937760" cy="19659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4526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9B71B"/>
                </a:solidFill>
                <a:latin typeface="Calibri"/>
              </a:rPr>
              <a:t>本研究關鍵問題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892040"/>
            <a:ext cx="4572000" cy="1463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8F1F8"/>
                </a:solidFill>
                <a:latin typeface="Calibri"/>
              </a:rPr>
              <a:t>「能否訓練模型，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從單張 CCD 強度圖直接回推 14 維 Zernike 係數</a:t>
            </a:r>
            <a:r>
              <a:rPr sz="1300" b="0" i="0">
                <a:solidFill>
                  <a:srgbClr val="E8F1F8"/>
                </a:solidFill>
                <a:latin typeface="Calibri"/>
              </a:rPr>
              <a:t>？將人工掃描轉化為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資料驅動的自動補償流程</a:t>
            </a:r>
            <a:r>
              <a:rPr sz="1300" b="0" i="0">
                <a:solidFill>
                  <a:srgbClr val="E8F1F8"/>
                </a:solidFill>
                <a:latin typeface="Calibri"/>
              </a:rPr>
              <a:t>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01 · 緒論與研究動機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研究創新性貢獻：三大關鍵技術突破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6567" y="1371600"/>
            <a:ext cx="3657600" cy="49377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567" y="1371600"/>
            <a:ext cx="3657600" cy="8229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141732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14173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1">
                <a:solidFill>
                  <a:srgbClr val="E8F1F8"/>
                </a:solidFill>
                <a:latin typeface="Calibri"/>
              </a:rPr>
              <a:t>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" y="23317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波前校正 → 多輸出迴歸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167" y="3383280"/>
            <a:ext cx="3200400" cy="2651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首次將傳統 Sensorless AO 問題完全轉化為「單一張光強圖至多維連續參數」的深度學習迴歸任務，以 CNN 取代依賴經驗的反覆掃描。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567" y="6199632"/>
            <a:ext cx="3657600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7047" y="1371600"/>
            <a:ext cx="3657600" cy="49377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67047" y="1371600"/>
            <a:ext cx="3657600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1367" y="141732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8647" y="14173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1">
                <a:solidFill>
                  <a:srgbClr val="E8F1F8"/>
                </a:solidFill>
                <a:latin typeface="Calibri"/>
              </a:rPr>
              <a:t>Innovation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647" y="23317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Zernike 物理 ⊕ CNN 資料驅動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647" y="3383280"/>
            <a:ext cx="3200400" cy="2651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結合 Zernike 多項式正交基底之物理可解釋性，與 CNN 自動特徵抽取的資料驅動能力，模型輸出可直接對應實體像差成分。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047" y="6199632"/>
            <a:ext cx="3657600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7527" y="1371600"/>
            <a:ext cx="3657600" cy="49377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7527" y="1371600"/>
            <a:ext cx="3657600" cy="8229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1847" y="141732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9127" y="141732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1">
                <a:solidFill>
                  <a:srgbClr val="E8F1F8"/>
                </a:solidFill>
                <a:latin typeface="Calibri"/>
              </a:rPr>
              <a:t>Innovation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6127" y="233172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閉迴路自適應校正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6127" y="3383280"/>
            <a:ext cx="3200400" cy="2651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估測器作為控制迴路核心，根據預測殘餘像差產生共軛相位即時更新 SLM，逐步逼近理想平頂分布，目標不平整度 &lt; 1%。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7527" y="6199632"/>
            <a:ext cx="3657600" cy="109728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02 · 閉迴路系統架構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End-to-End 資料流：觀測 → 辨識 → 補償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4855" y="1417320"/>
            <a:ext cx="3657600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855" y="1417320"/>
            <a:ext cx="365760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455" y="15544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①  Forward Physical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455" y="1920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mbria"/>
              </a:rPr>
              <a:t>物理前向模型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455" y="237744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純量傅立葉光學嚴格建模 SLM 相位調變至 CCD 強度圖之傳輸機制，產生 50K 筆成對訓練資料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02455" y="2331720"/>
            <a:ext cx="164592" cy="365760"/>
          </a:xfrm>
          <a:prstGeom prst="rightArrow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1417320"/>
            <a:ext cx="3657600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7047" y="1417320"/>
            <a:ext cx="365760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5647" y="15544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  <a:latin typeface="Consolas"/>
              </a:rPr>
              <a:t>②  Deep Learning Estimator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5647" y="1920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mbria"/>
              </a:rPr>
              <a:t>波前估測器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237744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CNN 從單張灰階強度圖提取空間特徵，輸出 14 維連續 Zernike 係數向量 ẑ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24647" y="2331720"/>
            <a:ext cx="164592" cy="365760"/>
          </a:xfrm>
          <a:prstGeom prst="rightArrow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9239" y="1417320"/>
            <a:ext cx="3657600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9239" y="1417320"/>
            <a:ext cx="3657600" cy="7315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7839" y="15544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21295C"/>
                </a:solidFill>
                <a:latin typeface="Consolas"/>
              </a:rPr>
              <a:t>③  Adaptive Iterative 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7839" y="1920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 i="0">
                <a:solidFill>
                  <a:srgbClr val="21295C"/>
                </a:solidFill>
                <a:latin typeface="Cambria"/>
              </a:rPr>
              <a:t>自適應迭代控制器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7839" y="237744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333D47"/>
                </a:solidFill>
                <a:latin typeface="Calibri"/>
              </a:rPr>
              <a:t>依預測值生成共軛相位，疊加至 SLM 補償矩陣，閉迴路逐步抑制畸變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mbria"/>
              </a:rPr>
              <a:t>Closed-loop Feedback ─ 閉迴路反饋鏈</a:t>
            </a:r>
          </a:p>
        </p:txBody>
      </p:sp>
      <p:sp>
        <p:nvSpPr>
          <p:cNvPr id="28" name="Oval 27"/>
          <p:cNvSpPr/>
          <p:nvPr/>
        </p:nvSpPr>
        <p:spPr>
          <a:xfrm>
            <a:off x="1440180" y="4709160"/>
            <a:ext cx="868680" cy="8686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0180" y="470916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SLM
相位 φ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354580" y="5033772"/>
            <a:ext cx="1143000" cy="219456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43300" y="4709160"/>
            <a:ext cx="868680" cy="8686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3300" y="470916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光學
傳輸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57700" y="5033772"/>
            <a:ext cx="1143000" cy="219456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46420" y="4709160"/>
            <a:ext cx="868680" cy="8686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46420" y="470916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CCD
強度 I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560820" y="5033772"/>
            <a:ext cx="1143000" cy="219456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49540" y="4709160"/>
            <a:ext cx="868680" cy="868680"/>
          </a:xfrm>
          <a:prstGeom prst="ellipse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9540" y="470916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21295C"/>
                </a:solidFill>
                <a:latin typeface="Calibri"/>
              </a:rPr>
              <a:t>CNN
估測 ẑ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663940" y="5033772"/>
            <a:ext cx="1143000" cy="219456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52660" y="4709160"/>
            <a:ext cx="868680" cy="8686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52660" y="470916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控制器
Δφ = -ηẑ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1">
                <a:solidFill>
                  <a:srgbClr val="065A82"/>
                </a:solidFill>
                <a:latin typeface="Cambria"/>
              </a:rPr>
              <a:t>↺  反饋疊加：c⁽ᵏ⁺¹⁾ = c⁽ᵏ⁾ − η · ẑ⁽ᵏ⁾   ─ 每次迭代抑制殘餘 Zernike 像差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03 · Zernike 像差物理理論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Zernike 多項式：圓孔徑波前的標準正交基底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943600" cy="51206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極座標下之多項式定義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5577840" cy="1554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21295C"/>
                </a:solidFill>
                <a:latin typeface="Cambria"/>
              </a:rPr>
              <a:t>Zₙᵐ(ρ, θ) = 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33D47"/>
                </a:solidFill>
                <a:latin typeface="Cambria"/>
              </a:rPr>
              <a:t>Rₙᵐ(ρ) cos(mθ),  m &gt; 0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33D47"/>
                </a:solidFill>
                <a:latin typeface="Cambria"/>
              </a:rPr>
              <a:t>                Rₙᵐ(ρ),                  m = 0</a:t>
            </a:r>
            <a:r>
              <a:rPr sz="1400" b="0" i="0">
                <a:solidFill>
                  <a:srgbClr val="333D47"/>
                </a:solidFill>
                <a:latin typeface="Cambria"/>
              </a:rPr>
              <a:t>                Rₙᵐ(ρ) sin(|m|θ),  m &lt;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徑向多項式 Rₙᵐ(ρ)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57784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333D47"/>
                </a:solidFill>
                <a:latin typeface="Cambria"/>
              </a:rPr>
              <a:t>Rₙᵐ(ρ) = Σₛ (−1)ˢ (n−s)! / [s! ((n+|m|)/2−s)! ((n−|m|)/2−s)!] · ρⁿ⁻²ˢ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正交性 (Orthogonality)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5577840" cy="13716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mbria"/>
              </a:rPr>
              <a:t>∫₀²π ∫₀¹ Zₙᵐ Zₙ'ᵐ' ρ dρ dθ = π/(n+1) · δₙₙ' · δₘₘ'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mbria"/>
              </a:rPr>
              <a:t>為何選擇 Zernike？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691640"/>
            <a:ext cx="54864" cy="9601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6916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唯一可分解性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039112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任意圓孔徑波前形變皆可被無耦合地分解為各 Zernike 模式之線性疊加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788920"/>
            <a:ext cx="54864" cy="9601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788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物理直觀對應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136392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每階多項式對應一個經典 Seidel 像差（傾斜、離焦、彗差、球差…）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886200"/>
            <a:ext cx="54864" cy="9601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8862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有限階近似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233672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低階模式即可涵蓋多數實際光學系統像差能量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4983480"/>
            <a:ext cx="54864" cy="9601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49834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數值穩定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330952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正交性確保最小平方擬合過程數值條件良好，避免病態反矩陣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03 · Zernike 像差物理理論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14 階非活塞像差模式：本研究使用之子集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80160"/>
          <a:ext cx="7772399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2377440"/>
                <a:gridCol w="3749039"/>
              </a:tblGrid>
              <a:tr h="322897">
                <a:tc>
                  <a:txBody>
                    <a:bodyPr lIns="36000" rIns="36000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索引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(n, m)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模式名稱 (Mode)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  <a:tc>
                  <a:txBody>
                    <a:bodyPr lIns="36000" rIns="36000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物理意義</a:t>
                      </a:r>
                    </a:p>
                  </a:txBody>
                  <a:tcPr>
                    <a:solidFill>
                      <a:srgbClr val="21295C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(1, −1)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Tilt 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Y 軸傾斜（光斑位移）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(1,  1)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Tilt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X 軸傾斜（光斑位移）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(2, −2)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Astigmatism 45°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45° 角散光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(2,  0)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Defocus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離焦：縱向焦點偏移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(2,  2)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Astigmatism 0°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0° 角散光（十字拉伸）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(3, −3)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Trefoil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Y 軸三葉草畸變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(3, −1)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Coma 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Y 軸彗差（拖尾效應）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(3,  1)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Coma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X 軸彗差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(3,  3)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Trefoil X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X 軸三葉草畸變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(4, −4)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Quadrafoil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Y 軸四葉草畸變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(4, −2)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Secondary Astig 45°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二階散光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(4,  0)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Primary Spherical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初階球差（邊緣擴散）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(4,  2)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Secondary Astig 0°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二階散光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322897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(4,  4)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Quadrafoil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X 軸四葉草畸變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2905"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ctr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(5, −1)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Secondary Coma 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 lIns="36000" rIns="36000" tIns="9000" bIns="9000"/>
                    <a:lstStyle/>
                    <a:p>
                      <a:pPr algn="l"/>
                      <a:r>
                        <a:rPr sz="1050">
                          <a:solidFill>
                            <a:srgbClr val="333D47"/>
                          </a:solidFill>
                          <a:latin typeface="Calibri"/>
                        </a:rPr>
                        <a:t>二階彗差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503920" y="1280160"/>
            <a:ext cx="3200400" cy="51663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0" y="1280160"/>
            <a:ext cx="32004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2801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排除 Piston 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874519"/>
            <a:ext cx="2971800" cy="44348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21295C"/>
                </a:solidFill>
                <a:latin typeface="Calibri"/>
              </a:rPr>
              <a:t>為何忽略 Z₀ (Piston)？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33D4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Z₀ 為均勻平移常數，僅造成全場相位偏移，不影響光強分布——CCD 量測絕對值平方時自動消除。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33D4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21295C"/>
                </a:solidFill>
                <a:latin typeface="Calibri"/>
              </a:rPr>
              <a:t>n = 1 ~ 5 之選擇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覆蓋實驗中常見的低階至中階像差模式，能量集中於前 14 階；高階波紋對焦平面成像影響有限。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333D4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21295C"/>
                </a:solidFill>
                <a:latin typeface="Calibri"/>
              </a:rPr>
              <a:t>輸出維度 = 14</a:t>
            </a:r>
            <a:r>
              <a:rPr sz="1150" b="0" i="0">
                <a:solidFill>
                  <a:srgbClr val="333D47"/>
                </a:solidFill>
                <a:latin typeface="Calibri"/>
              </a:rPr>
              <a:t>CNN 最後 FC 層輸出向量 ẑ ∈ ℝ¹⁴，每個分量直接對應上表中之像差幅度。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03 · Zernike 像差物理理論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共軛相位補償：直接抵銷殘餘波前誤差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mbria"/>
              </a:rPr>
              <a:t>Phase Conjugation 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3D47"/>
                </a:solidFill>
                <a:latin typeface="Calibri"/>
              </a:rPr>
              <a:t>若 CNN 預測殘餘波前誤差為</a:t>
            </a:r>
            <a:r>
              <a:rPr sz="1300" b="1" i="0">
                <a:solidFill>
                  <a:srgbClr val="065A82"/>
                </a:solidFill>
                <a:latin typeface="Cambria"/>
              </a:rPr>
              <a:t>  W_error(ρ, θ) = Σ ẑᵢ · Zᵢ(ρ, θ)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3D47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3D47"/>
                </a:solidFill>
                <a:latin typeface="Calibri"/>
              </a:rPr>
              <a:t>便可在 SLM 上載入符號相反之共軛補償相位：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333D47"/>
                </a:solidFill>
                <a:latin typeface="Calibri"/>
              </a:rPr>
              <a:t/>
            </a:r>
            <a:r>
              <a:rPr sz="1400" b="1" i="0">
                <a:solidFill>
                  <a:srgbClr val="21295C"/>
                </a:solidFill>
                <a:latin typeface="Cambria"/>
              </a:rPr>
              <a:t>W_corrected = W_error + W_SLM = W_error + (−W_error) ≈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486400" cy="21945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91440" cy="219456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9B71B"/>
                </a:solidFill>
                <a:latin typeface="Calibri"/>
              </a:rPr>
              <a:t>閉迴路控制律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c⁽ᵏ⁺¹⁾ = c⁽ᵏ⁾ − η · ẑ⁽ᵏ⁾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9B71B"/>
                </a:solidFill>
                <a:latin typeface="Consolas"/>
              </a:rPr>
              <a:t>·  η </a:t>
            </a:r>
            <a:r>
              <a:rPr sz="1150" b="0" i="0">
                <a:solidFill>
                  <a:srgbClr val="E8F1F8"/>
                </a:solidFill>
                <a:latin typeface="Calibri"/>
              </a:rPr>
              <a:t>為步長（learning rate），抑制過度補償震盪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9B71B"/>
                </a:solidFill>
                <a:latin typeface="Consolas"/>
              </a:rPr>
              <a:t>·  ẑ⁽ᵏ⁾ </a:t>
            </a:r>
            <a:r>
              <a:rPr sz="1150" b="0" i="0">
                <a:solidFill>
                  <a:srgbClr val="E8F1F8"/>
                </a:solidFill>
                <a:latin typeface="Calibri"/>
              </a:rPr>
              <a:t>為第 k 次迭代之 CNN 預測殘差</a:t>
            </a:r>
          </a:p>
          <a:p>
            <a:pPr algn="l">
              <a:lnSpc>
                <a:spcPct val="140000"/>
              </a:lnSpc>
            </a:pPr>
            <a:r>
              <a:rPr sz="1150" b="1" i="0">
                <a:solidFill>
                  <a:srgbClr val="F9B71B"/>
                </a:solidFill>
                <a:latin typeface="Calibri"/>
              </a:rPr>
              <a:t>·  收斂條件 </a:t>
            </a:r>
            <a:r>
              <a:rPr sz="1150" b="0" i="0">
                <a:solidFill>
                  <a:srgbClr val="E8F1F8"/>
                </a:solidFill>
                <a:latin typeface="Cambria"/>
              </a:rPr>
              <a:t>Flatness &lt; 1%  或  ‖ẑ‖₂ →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mbria"/>
              </a:rPr>
              <a:t>迭代抑制流程示意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1691640" cy="18288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91640"/>
            <a:ext cx="1691640" cy="45720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916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k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402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mbria"/>
              </a:rPr>
              <a:t>嚴重畸變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E64A4A"/>
                </a:solidFill>
                <a:latin typeface="Cambria"/>
              </a:rPr>
              <a:t>Flatness ≈ 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691640"/>
            <a:ext cx="1691640" cy="18288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691640"/>
            <a:ext cx="1691640" cy="45720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6916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k =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2402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mbria"/>
              </a:rPr>
              <a:t>明顯改善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74320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F9B71B"/>
                </a:solidFill>
                <a:latin typeface="Cambria"/>
              </a:rPr>
              <a:t>Flatness ≈ 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20" y="1691640"/>
            <a:ext cx="1691640" cy="18288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75520" y="1691640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0" y="16916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k =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2402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 i="0">
                <a:solidFill>
                  <a:srgbClr val="21295C"/>
                </a:solidFill>
                <a:latin typeface="Cambria"/>
              </a:rPr>
              <a:t>達到目標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74320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mbria"/>
              </a:rPr>
              <a:t>Flatness &lt; 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7033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mbria"/>
              </a:rPr>
              <a:t>閉迴路設計關鍵特性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69080"/>
            <a:ext cx="5303520" cy="22860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步長衰減</a:t>
            </a:r>
            <a:r>
              <a:rPr sz="1150">
                <a:solidFill>
                  <a:srgbClr val="333D47"/>
                </a:solidFill>
                <a:latin typeface="Calibri"/>
              </a:rPr>
              <a:t>  η_k = η₀ / (1 + αk) 防止後期震盪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置信度權重</a:t>
            </a:r>
            <a:r>
              <a:rPr sz="1150">
                <a:solidFill>
                  <a:srgbClr val="333D47"/>
                </a:solidFill>
                <a:latin typeface="Calibri"/>
              </a:rPr>
              <a:t>  對小幅 ẑ 賦低權重，避免雜訊抖動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收斂監控</a:t>
            </a:r>
            <a:r>
              <a:rPr sz="1150">
                <a:solidFill>
                  <a:srgbClr val="333D47"/>
                </a:solidFill>
                <a:latin typeface="Calibri"/>
              </a:rPr>
              <a:t>  Flatness 連續 3 次無改善即停止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殘差累計</a:t>
            </a:r>
            <a:r>
              <a:rPr sz="1150">
                <a:solidFill>
                  <a:srgbClr val="333D47"/>
                </a:solidFill>
                <a:latin typeface="Calibri"/>
              </a:rPr>
              <a:t>  每次迭代僅補償 Δφ，避免 SLM 飽和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09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04 · 純量傅立葉光學模型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概念驗證原型：代理前向模型（Surrogate Forward Model）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在進入龐大的 IDFT 計算前，本專案先建立可快速執行的代理模型，驗證 CNN 工作流。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703320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73152" cy="20116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Spatial 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12848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幾何扭曲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由波前空間梯度 ∇W 產生位移場 (dx, dy)，
模擬光線受相位斜率偏折之效果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33375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mbria"/>
              </a:rPr>
              <a:t>x_w = x + α · ∂W/∂x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828800"/>
            <a:ext cx="3703320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828800"/>
            <a:ext cx="73152" cy="20116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1920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Gaussian Blur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212848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高斯模糊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6974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依像差 RMS 動態調變模糊半徑 σ，
模擬離焦時點擴散函數寬化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3429000"/>
            <a:ext cx="33375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42900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mbria"/>
              </a:rPr>
              <a:t>σ = σ₀ + β · RMS(W)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1828800"/>
            <a:ext cx="3703320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1828800"/>
            <a:ext cx="73152" cy="20116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1920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Shading Modulation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2212848"/>
            <a:ext cx="342900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亮度調變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2697480"/>
            <a:ext cx="342900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使用波前拉普拉斯算子 ∇²W 
反映局部曲率造成之明暗變化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3429000"/>
            <a:ext cx="333756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342900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 i="0">
                <a:solidFill>
                  <a:srgbClr val="065A82"/>
                </a:solidFill>
                <a:latin typeface="Cambria"/>
              </a:rPr>
              <a:t>I' = I · (1 + γ · ∇²W)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69080"/>
            <a:ext cx="11247120" cy="2331720"/>
          </a:xfrm>
          <a:prstGeom prst="rect">
            <a:avLst/>
          </a:prstGeom>
          <a:solidFill>
            <a:srgbClr val="33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F9B71B"/>
                </a:solidFill>
                <a:latin typeface="Consolas"/>
              </a:rPr>
              <a:t>FlatTopZernikeSimulator.simulate()  ─ Python NumPy 代理實作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80560"/>
            <a:ext cx="10881360" cy="18288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E8F1F8"/>
                </a:solidFill>
                <a:latin typeface="Consolas"/>
              </a:rPr>
              <a:t>def simulate(self, coeffs: np.ndarray, add_noise=True):
    wavefront = np.tensordot(coeffs, self.basis,    axes=(0, 0))
    dx        = np.tensordot(coeffs, self.basis_dx, axes=(0, 0))
    dy        = np.tensordot(coeffs, self.basis_dy, axes=(0, 0))
    xw = self.xx + self.cfg.warp_scale * dx
    yw = self.yy + self.cfg.warp_scale * dy
    image   = map_coordinates(self.flattop, [yw, xw], order=1)
    image   = gaussian_filter(image, sigma=self.cfg.blur_sigma)
    shading = 1.0 + self.cfg.shading_scale * laplace(wavefront)
    return (image * shading).astype(np.float32)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04 · 純量傅立葉光學模型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解析平頂光相位設計與 IDFT 焦平面傳播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X 方向解析平頂相位 Φₓ(x)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943600" cy="14630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mbria"/>
              </a:rPr>
              <a:t>Φₓ(x) = (1 / λf) · [ √(2π) · a₁a₂ · exp(−2(x/a₁)²)
                + 2π · a₂ · x · erf(√2 · x / a₁)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65A82"/>
                </a:solidFill>
                <a:latin typeface="Consolas"/>
              </a:rPr>
              <a:t>·  a₁ 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入射高斯半徑   </a:t>
            </a:r>
            <a:r>
              <a:rPr sz="1200" b="1" i="0">
                <a:solidFill>
                  <a:srgbClr val="065A82"/>
                </a:solidFill>
                <a:latin typeface="Consolas"/>
              </a:rPr>
              <a:t>·  a₂ 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目標平頂寬度</a:t>
            </a:r>
          </a:p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065A82"/>
                </a:solidFill>
                <a:latin typeface="Consolas"/>
              </a:rPr>
              <a:t>·  λ 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雷射波長          </a:t>
            </a:r>
            <a:r>
              <a:rPr sz="1200" b="1" i="0">
                <a:solidFill>
                  <a:srgbClr val="065A82"/>
                </a:solidFill>
                <a:latin typeface="Consolas"/>
              </a:rPr>
              <a:t>·  f 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透鏡焦距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總調變相位 Φ_total(x, 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5943600" cy="12801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2628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9B71B"/>
                </a:solidFill>
                <a:latin typeface="Cambria"/>
              </a:rPr>
              <a:t>Φ_total = [ Φ_analytic + Φ_grating + π Σⱼ Zⱼ · Z_basis⁽ʲ⁾ ]  mod 2π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mbria"/>
              </a:rPr>
              <a:t>I(u, v) = | F⁻¹{ A(x,y) · exp(i Φ_total) } |²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1280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SLM 加載之 Blazed + 解析相位</a:t>
            </a:r>
          </a:p>
        </p:txBody>
      </p:sp>
      <p:pic>
        <p:nvPicPr>
          <p:cNvPr id="18" name="Picture 17" descr="phase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937760" cy="2468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766560" y="42062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焦平面 IDFT 模擬之平頂光斑</a:t>
            </a:r>
          </a:p>
        </p:txBody>
      </p:sp>
      <p:pic>
        <p:nvPicPr>
          <p:cNvPr id="20" name="Picture 19" descr="full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617720"/>
            <a:ext cx="2331720" cy="1828800"/>
          </a:xfrm>
          <a:prstGeom prst="rect">
            <a:avLst/>
          </a:prstGeom>
        </p:spPr>
      </p:pic>
      <p:pic>
        <p:nvPicPr>
          <p:cNvPr id="21" name="Picture 20" descr="zoomin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4617720"/>
            <a:ext cx="23317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05 · 高維採樣與 GPU 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高維蒙地卡羅同時採樣機制 ─ 解決維度詛咒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E64A4A"/>
                </a:solidFill>
                <a:latin typeface="Cambria"/>
              </a:rPr>
              <a:t>為何不能用 Grid Search？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486400" cy="2286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維度詛咒（Curse of Dimensionality）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5212080" cy="1783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·  N=14 維、Δ=0.1、值域 [−2, 2]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·  總組合數 41¹⁴ ≈ </a:t>
            </a:r>
            <a:r>
              <a:rPr sz="1300" b="1" i="0">
                <a:solidFill>
                  <a:srgbClr val="E64A4A"/>
                </a:solidFill>
                <a:latin typeface="Cambria"/>
              </a:rPr>
              <a:t>1.6 × 10²²</a:t>
            </a:r>
            <a:r>
              <a:rPr sz="1150" b="0" i="0">
                <a:solidFill>
                  <a:srgbClr val="333D47"/>
                </a:solidFill>
                <a:latin typeface="Calibri"/>
              </a:rPr>
              <a:t> 組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·  GPU 10⁵ 筆/秒 仍需 </a:t>
            </a:r>
            <a:r>
              <a:rPr sz="1150" b="1" i="0">
                <a:solidFill>
                  <a:srgbClr val="E64A4A"/>
                </a:solidFill>
                <a:latin typeface="Calibri"/>
              </a:rPr>
              <a:t>5 × 10⁹ 年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·  Zernike 模式存 </a:t>
            </a:r>
            <a:r>
              <a:rPr sz="1150" b="1" i="0">
                <a:solidFill>
                  <a:srgbClr val="21295C"/>
                </a:solidFill>
                <a:latin typeface="Calibri"/>
              </a:rPr>
              <a:t>非線性耦合 cross-talk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·  單模式訓練於混合畸變時失效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mbria"/>
              </a:rPr>
              <a:t>解法：均勻分布同時抽樣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80560"/>
            <a:ext cx="5486400" cy="1920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F9B71B"/>
                </a:solidFill>
                <a:latin typeface="Cambria"/>
              </a:rPr>
              <a:t>Zⱼ ~ U(−2.0, 2.0),    j = 1, …,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E8F1F8"/>
                </a:solidFill>
                <a:latin typeface="Calibri"/>
              </a:rPr>
              <a:t>·  14 個 Zernike 同時獨立抽樣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E8F1F8"/>
                </a:solidFill>
                <a:latin typeface="Calibri"/>
              </a:rPr>
              <a:t>·  每筆樣本即為「真實混疊像差」場景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E8F1F8"/>
                </a:solidFill>
                <a:latin typeface="Calibri"/>
              </a:rPr>
              <a:t>·  強迫 CNN 解耦正交係數於干涉紋理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E8F1F8"/>
                </a:solidFill>
                <a:latin typeface="Calibri"/>
              </a:rPr>
              <a:t>·  資料總量 </a:t>
            </a:r>
            <a:r>
              <a:rPr sz="1150" b="1" i="0">
                <a:solidFill>
                  <a:srgbClr val="F9B71B"/>
                </a:solidFill>
                <a:latin typeface="Cambria"/>
              </a:rPr>
              <a:t>50,000 筆 (256×256, fp16)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Grid vs. Monte Carlo 採樣示意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24688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E64A4A"/>
                </a:solidFill>
                <a:latin typeface="Calibri"/>
              </a:rPr>
              <a:t>Grid Search (2D 投影)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194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03720" y="2194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9480" y="2194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2194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1000" y="2194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2194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32520" y="2194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60" y="2499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03720" y="2499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69480" y="2499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35240" y="2499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01000" y="2499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66760" y="2499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32520" y="2499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37960" y="28041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03720" y="28041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269480" y="28041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35240" y="28041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001000" y="28041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66760" y="28041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32520" y="28041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37960" y="31089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903720" y="31089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69480" y="31089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635240" y="31089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001000" y="31089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66760" y="31089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32520" y="31089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537960" y="34137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903720" y="34137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69480" y="34137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635240" y="34137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01000" y="34137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366760" y="34137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32520" y="34137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537960" y="3718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03720" y="3718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69480" y="3718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5240" y="3718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001000" y="3718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366760" y="3718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732520" y="37185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537960" y="4023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03720" y="4023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269480" y="4023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635240" y="4023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001000" y="4023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366760" y="4023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32520" y="4023360"/>
            <a:ext cx="54864" cy="54864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44000" y="1783080"/>
            <a:ext cx="24688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44000" y="18288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Monte Carlo (2D 投影)</a:t>
            </a:r>
          </a:p>
        </p:txBody>
      </p:sp>
      <p:sp>
        <p:nvSpPr>
          <p:cNvPr id="71" name="Oval 70"/>
          <p:cNvSpPr/>
          <p:nvPr/>
        </p:nvSpPr>
        <p:spPr>
          <a:xfrm>
            <a:off x="9991830" y="2470432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709674" y="232703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457185" y="286333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08442" y="312255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63446" y="298761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34461" y="2360455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212792" y="3706707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552850" y="260281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658099" y="392773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547647" y="292000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423610" y="227975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165120" y="2724197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597736" y="240997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958141" y="368709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677774" y="325819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683293" y="287560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483218" y="230938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11958" y="2571217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774338" y="297654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970574" y="3265435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275700" y="274277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024473" y="347288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816844" y="3245066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433735" y="379501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881971" y="272114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432212" y="241047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98755" y="357921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614699" y="3088775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367202" y="341659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959056" y="324250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1202448" y="276834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0807027" y="328154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0553774" y="302886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124519" y="3922192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321597" y="340916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414302" y="347744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701323" y="401073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1084923" y="271502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127802" y="3417392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330675" y="303890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649952" y="2408704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410539" y="3599504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565004" y="264739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0139122" y="3788216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458000" y="301603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486938" y="3810092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079118" y="3774614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892171" y="2954054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068504" y="381157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382958" y="2470564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667880" y="2618762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793230" y="308145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574026" y="2675071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290143" y="296072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091509" y="3230284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372790" y="3457334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412436" y="332401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765121" y="2293302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255239" y="362096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1200331" y="365371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0142259" y="2924212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508378" y="335454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417766" y="2317725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739303" y="249138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027428" y="229071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281671" y="247119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503829" y="285952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337123" y="379353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628771" y="2466229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834754" y="2829866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080338" y="241921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1144203" y="4010746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303801" y="3079396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469639" y="2381440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033094" y="2678747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1100132" y="2489798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9331844" y="3933722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440452" y="2462666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473184" y="2244015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440127" y="3984043"/>
            <a:ext cx="54864" cy="548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400800" y="4434840"/>
            <a:ext cx="5303520" cy="19659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537960" y="4526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對比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37960" y="4892040"/>
            <a:ext cx="5029200" cy="1417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E64A4A"/>
                </a:solidFill>
                <a:latin typeface="Calibri"/>
              </a:rPr>
              <a:t>Grid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：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D47"/>
                </a:solidFill>
                <a:latin typeface="Calibri"/>
              </a:rPr>
              <a:t>規律但稀疏，覆蓋高維體積極差</a:t>
            </a:r>
            <a:r>
              <a:rPr sz="1200" b="1" i="0">
                <a:solidFill>
                  <a:srgbClr val="10B981"/>
                </a:solidFill>
                <a:latin typeface="Calibri"/>
              </a:rPr>
              <a:t>Monte Carlo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：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D47"/>
                </a:solidFill>
                <a:latin typeface="Calibri"/>
              </a:rPr>
              <a:t>隨機混疊填充，N 樣本即可有效估計分布</a:t>
            </a:r>
            <a:r>
              <a:rPr sz="1200" b="1" i="0">
                <a:solidFill>
                  <a:srgbClr val="21295C"/>
                </a:solidFill>
                <a:latin typeface="Calibri"/>
              </a:rPr>
              <a:t>結論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：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高維迴歸問題之資料生成首選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12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05 · 高維採樣與 GPU 加速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PyTorch MPS 硬體加速 ─ 50K 資料集 GPU 批次生成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資料生成瓶頸與解法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606040" cy="21031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2606040" cy="457200"/>
          </a:xfrm>
          <a:prstGeom prst="rect">
            <a:avLst/>
          </a:prstGeom>
          <a:solidFill>
            <a:srgbClr val="E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MATLAB 原型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2331720" cy="1508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D47"/>
                </a:solidFill>
                <a:latin typeface="Calibri"/>
              </a:rPr>
              <a:t>·  7620 × 7620 IDFT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D47"/>
                </a:solidFill>
                <a:latin typeface="Calibri"/>
              </a:rPr>
              <a:t>·  CPU 單核迴圈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64A4A"/>
                </a:solidFill>
                <a:latin typeface="Calibri"/>
              </a:rPr>
              <a:t>·  ~8 秒 / 筆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D47"/>
                </a:solidFill>
                <a:latin typeface="Calibri"/>
              </a:rPr>
              <a:t>·  50K 需 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E64A4A"/>
                </a:solidFill>
                <a:latin typeface="Calibri"/>
              </a:rPr>
              <a:t>    111 小時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D47"/>
                </a:solidFill>
                <a:latin typeface="Calibri"/>
              </a:rPr>
              <a:t>·  記憶體頻繁 swap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691640"/>
            <a:ext cx="2606040" cy="21031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691640"/>
            <a:ext cx="26060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69164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PyTorch 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40280"/>
            <a:ext cx="2331720" cy="1508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D47"/>
                </a:solidFill>
                <a:latin typeface="Calibri"/>
              </a:rPr>
              <a:t>·  einsum 張量內積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D47"/>
                </a:solidFill>
                <a:latin typeface="Calibri"/>
              </a:rPr>
              <a:t>·  Apple Silicon GPU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·  ~0.04 秒 / 筆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D47"/>
                </a:solidFill>
                <a:latin typeface="Calibri"/>
              </a:rPr>
              <a:t>·  50K 僅需 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    ~35 分鐘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3D47"/>
                </a:solidFill>
                <a:latin typeface="Calibri"/>
              </a:rPr>
              <a:t>·  fp16 節省 VRAM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39"/>
            <a:ext cx="5349240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9B71B"/>
                </a:solidFill>
                <a:latin typeface="Cambria"/>
              </a:rPr>
              <a:t>加速比 ≈ 200×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關鍵加速手法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65A82"/>
                </a:solidFill>
                <a:latin typeface="Calibri"/>
              </a:rPr>
              <a:t>■  </a:t>
            </a:r>
            <a:r>
              <a:rPr sz="1100" b="1">
                <a:solidFill>
                  <a:srgbClr val="21295C"/>
                </a:solidFill>
                <a:latin typeface="Calibri"/>
              </a:rPr>
              <a:t>torch.einsum</a:t>
            </a:r>
            <a:r>
              <a:rPr sz="1100">
                <a:solidFill>
                  <a:srgbClr val="333D47"/>
                </a:solidFill>
                <a:latin typeface="Calibri"/>
              </a:rPr>
              <a:t>  無迴圈批次張量內積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065A82"/>
                </a:solidFill>
                <a:latin typeface="Calibri"/>
              </a:rPr>
              <a:t>■  </a:t>
            </a:r>
            <a:r>
              <a:rPr sz="1100" b="1">
                <a:solidFill>
                  <a:srgbClr val="21295C"/>
                </a:solidFill>
                <a:latin typeface="Calibri"/>
              </a:rPr>
              <a:t>torch.fft.ifft2</a:t>
            </a:r>
            <a:r>
              <a:rPr sz="1100">
                <a:solidFill>
                  <a:srgbClr val="333D47"/>
                </a:solidFill>
                <a:latin typeface="Calibri"/>
              </a:rPr>
              <a:t>  GPU 上之 IDFT 平行化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065A82"/>
                </a:solidFill>
                <a:latin typeface="Calibri"/>
              </a:rPr>
              <a:t>■  </a:t>
            </a:r>
            <a:r>
              <a:rPr sz="1100" b="1">
                <a:solidFill>
                  <a:srgbClr val="21295C"/>
                </a:solidFill>
                <a:latin typeface="Calibri"/>
              </a:rPr>
              <a:t>Pupil 預先快取</a:t>
            </a:r>
            <a:r>
              <a:rPr sz="1100">
                <a:solidFill>
                  <a:srgbClr val="333D47"/>
                </a:solidFill>
                <a:latin typeface="Calibri"/>
              </a:rPr>
              <a:t>  減少重複矩陣分配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280160"/>
            <a:ext cx="5577840" cy="5120640"/>
          </a:xfrm>
          <a:prstGeom prst="rect">
            <a:avLst/>
          </a:prstGeom>
          <a:solidFill>
            <a:srgbClr val="33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3258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9B71B"/>
                </a:solidFill>
                <a:latin typeface="Consolas"/>
              </a:rPr>
              <a:t>PyTorch MPS Batch IDFT  ─ dataset_generator.py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91640"/>
            <a:ext cx="5349240" cy="46634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E8F1F8"/>
                </a:solidFill>
                <a:latin typeface="Consolas"/>
              </a:rPr>
              <a:t>device = torch.device('mps')
Z_basis = build_zernike_basis(N=14, H=W=512).to(device)
for step in range(steps):
    bs = 64
    # ① 均勻抽樣 14 個 Zernike 係數
    Z_batch = torch.rand(bs, 14, device=device)*4.0 - 2.0
    # ② Einsum 張量收縮疊加 Zernike 波前
    Z_sum = torch.einsum('bi,ixy-&gt;bxy', Z_batch, Z_basis)
    # ③ 總相位合成
    Total = Blazed_phi + theta_rad \
          + (Z_sum + 1.0) * math.pi * Pupil_mask
    phase = torch.fmod(Total, 2*math.pi)
    # ④ IDFT 傳播至焦平面
    field = torch.fft.fftshift(torch.fft.ifft2(
        torch.fft.ifftshift(
            Input_batch * torch.exp(1j*phase),
            dim=(-2,-1)),
    ), dim=(-2,-1))
    intensity = field.abs().pow_(2)
    save_pair(intensity, Z_batch)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13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06 · CNN 架構與訓練策略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CNN 核心算子理論：從卷積到池化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77840" cy="24231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" cy="2423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Conv 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二維卷積互相關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4884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 i="0">
                <a:solidFill>
                  <a:srgbClr val="065A82"/>
                </a:solidFill>
                <a:latin typeface="Cambria"/>
              </a:rPr>
              <a:t>Y(i,j) = Σₘ Σₙ X(i+m, j+n) · W(m,n) +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333D47"/>
                </a:solidFill>
                <a:latin typeface="Calibri"/>
              </a:rPr>
              <a:t>局部感受野提取空間特徵；參數共享降低過擬合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1280160"/>
            <a:ext cx="5577840" cy="24231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53912" y="1280160"/>
            <a:ext cx="73152" cy="24231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3716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BatchNorm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64592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批次正規化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6792" y="214884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14884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 i="0">
                <a:solidFill>
                  <a:srgbClr val="065A82"/>
                </a:solidFill>
                <a:latin typeface="Cambria"/>
              </a:rPr>
              <a:t>x̂ᵢ = (xᵢ−μ_B) / √(σ²_B+ε),  yᵢ = γx̂ᵢ + 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74320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333D47"/>
                </a:solidFill>
                <a:latin typeface="Calibri"/>
              </a:rPr>
              <a:t>穩定深層分布、加速收斂、允許更大學習率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67912"/>
            <a:ext cx="5577840" cy="24231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67912"/>
            <a:ext cx="73152" cy="24231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593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ReLU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33672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非線性激活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36592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36592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 i="0">
                <a:solidFill>
                  <a:srgbClr val="065A82"/>
                </a:solidFill>
                <a:latin typeface="Cambria"/>
              </a:rPr>
              <a:t>f(x) = max(0, 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30952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333D47"/>
                </a:solidFill>
                <a:latin typeface="Calibri"/>
              </a:rPr>
              <a:t>破壞線性疊加假設，使網路具備擬合任意函數能力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3912" y="3867912"/>
            <a:ext cx="5577840" cy="24231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3912" y="3867912"/>
            <a:ext cx="73152" cy="242316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9593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onsolas"/>
              </a:rPr>
              <a:t>MaxPool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233672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最大池化降採樣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36792" y="4736592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736592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50" b="1" i="0">
                <a:solidFill>
                  <a:srgbClr val="065A82"/>
                </a:solidFill>
                <a:latin typeface="Cambria"/>
              </a:rPr>
              <a:t>yᵢⱼ = max₍ₘ,ₙ₎ X(2i+m, 2j+n)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5330952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333D47"/>
                </a:solidFill>
                <a:latin typeface="Calibri"/>
              </a:rPr>
              <a:t>保留最強特徵響應、壓縮空間維度、增強平移不變性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14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06 · CNN 架構與訓練策略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Zernike-CNN 估測器網路結構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輸入：256×256×1 灰階強度圖     輸出：14 維 Zernike 係數向量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828800"/>
            <a:ext cx="1351026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828800"/>
            <a:ext cx="1351026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828800"/>
            <a:ext cx="1351026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8600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834640"/>
            <a:ext cx="1259586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onsolas"/>
              </a:rPr>
              <a:t>256×256×1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29184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強度圖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90522" y="1828800"/>
            <a:ext cx="1351026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90522" y="1828800"/>
            <a:ext cx="1351026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90522" y="1828800"/>
            <a:ext cx="1351026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6242" y="228600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Conv1+BN+ReLU+Pool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6242" y="2834640"/>
            <a:ext cx="1259586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onsolas"/>
              </a:rPr>
              <a:t>128×128×32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6242" y="329184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邊緣偵測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6412" y="1828800"/>
            <a:ext cx="1351026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6412" y="1828800"/>
            <a:ext cx="1351026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6412" y="1828800"/>
            <a:ext cx="1351026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2132" y="228600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Conv2+BN+ReLU+Pool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2132" y="2834640"/>
            <a:ext cx="1259586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onsolas"/>
              </a:rPr>
              <a:t>64×64×64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2132" y="329184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紋理紋路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2302" y="1828800"/>
            <a:ext cx="1351026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2302" y="1828800"/>
            <a:ext cx="1351026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2302" y="1828800"/>
            <a:ext cx="1351026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8022" y="228600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Conv3+BN+ReLU+Pool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48022" y="2834640"/>
            <a:ext cx="1259586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onsolas"/>
              </a:rPr>
              <a:t>32×32×128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8022" y="329184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高階畸變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1828800"/>
            <a:ext cx="1351026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08192" y="1828800"/>
            <a:ext cx="1351026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1828800"/>
            <a:ext cx="1351026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228600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Conv4+BN+ReLU+Pool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3912" y="2834640"/>
            <a:ext cx="1259586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onsolas"/>
              </a:rPr>
              <a:t>16×16×256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329184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全域特徵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4082" y="1828800"/>
            <a:ext cx="1351026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14082" y="1828800"/>
            <a:ext cx="1351026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4082" y="1828800"/>
            <a:ext cx="1351026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59802" y="228600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GlobalAvgPool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59802" y="2834640"/>
            <a:ext cx="1259586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onsolas"/>
              </a:rPr>
              <a:t>1×1×256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9802" y="329184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降維彙總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9972" y="1828800"/>
            <a:ext cx="1351026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19972" y="1828800"/>
            <a:ext cx="1351026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9972" y="1828800"/>
            <a:ext cx="1351026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5692" y="228600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FC + Dropout(0.3)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5692" y="2834640"/>
            <a:ext cx="1259586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onsolas"/>
              </a:rPr>
              <a:t>→ 128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5692" y="329184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非線性投影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25862" y="1828800"/>
            <a:ext cx="1351026" cy="21945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25862" y="1828800"/>
            <a:ext cx="1351026" cy="41148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25862" y="1828800"/>
            <a:ext cx="1351026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onsolas"/>
              </a:rPr>
              <a:t>L7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71582" y="228600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 i="0">
                <a:solidFill>
                  <a:srgbClr val="21295C"/>
                </a:solidFill>
                <a:latin typeface="Calibri"/>
              </a:rPr>
              <a:t>Linear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71582" y="2834640"/>
            <a:ext cx="1259586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onsolas"/>
              </a:rPr>
              <a:t>→ 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71582" y="3291840"/>
            <a:ext cx="1259586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  <a:latin typeface="Calibri"/>
              </a:rPr>
              <a:t>Zernike 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297680"/>
            <a:ext cx="11247120" cy="21031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3891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設計亮點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754880"/>
            <a:ext cx="5394960" cy="1554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4 段卷積區塊</a:t>
            </a:r>
            <a:r>
              <a:rPr sz="1150">
                <a:solidFill>
                  <a:srgbClr val="333D47"/>
                </a:solidFill>
                <a:latin typeface="Calibri"/>
              </a:rPr>
              <a:t>  由淺入深逐層擴張通道數至 256，每段 stride-2 降採樣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BatchNorm</a:t>
            </a:r>
            <a:r>
              <a:rPr sz="1150">
                <a:solidFill>
                  <a:srgbClr val="333D47"/>
                </a:solidFill>
                <a:latin typeface="Calibri"/>
              </a:rPr>
              <a:t>  緩解中間層分布偏移、加速收斂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Dropout 0.3</a:t>
            </a:r>
            <a:r>
              <a:rPr sz="1150">
                <a:solidFill>
                  <a:srgbClr val="333D47"/>
                </a:solidFill>
                <a:latin typeface="Calibri"/>
              </a:rPr>
              <a:t>  全連接層注入隨機性，抑制過擬合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754880"/>
            <a:ext cx="5394960" cy="1554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GlobalAvgPool</a:t>
            </a:r>
            <a:r>
              <a:rPr sz="1150">
                <a:solidFill>
                  <a:srgbClr val="333D47"/>
                </a:solidFill>
                <a:latin typeface="Calibri"/>
              </a:rPr>
              <a:t>  替代 Flatten，大幅縮小參數量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最後線性層</a:t>
            </a:r>
            <a:r>
              <a:rPr sz="1150">
                <a:solidFill>
                  <a:srgbClr val="333D47"/>
                </a:solidFill>
                <a:latin typeface="Calibri"/>
              </a:rPr>
              <a:t>  輸出無 Sigmoid／Tanh，保留 Zernike 連續實數值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65A82"/>
                </a:solidFill>
                <a:latin typeface="Calibri"/>
              </a:rPr>
              <a:t>■  </a:t>
            </a:r>
            <a:r>
              <a:rPr sz="1150" b="1">
                <a:solidFill>
                  <a:srgbClr val="21295C"/>
                </a:solidFill>
                <a:latin typeface="Calibri"/>
              </a:rPr>
              <a:t>總參數量</a:t>
            </a:r>
            <a:r>
              <a:rPr sz="1150">
                <a:solidFill>
                  <a:srgbClr val="333D47"/>
                </a:solidFill>
                <a:latin typeface="Calibri"/>
              </a:rPr>
              <a:t>  約 740K，可於 Apple M-series GPU 即時推論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15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06 · CNN 架構與訓練策略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Huber Loss、Adam 與 Cosine Annealing 學習率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Huber Loss ─ 對極端值魯棒之迴歸損失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486400" cy="22402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mbria"/>
              </a:rPr>
              <a:t>L_Huber(y, ŷ)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21295C"/>
                </a:solidFill>
                <a:latin typeface="Cambria"/>
              </a:rPr>
              <a:t>  ½β · (y−ŷ)²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,   if  |y−ŷ| &lt; β</a:t>
            </a:r>
            <a:r>
              <a:rPr sz="1250" b="1" i="0">
                <a:solidFill>
                  <a:srgbClr val="21295C"/>
                </a:solidFill>
                <a:latin typeface="Cambria"/>
              </a:rPr>
              <a:t>  |y−ŷ| − β/2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333D47"/>
                </a:solidFill>
                <a:latin typeface="Calibri"/>
              </a:rPr>
              <a:t>,   otherwise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33D47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333D47"/>
                </a:solidFill>
                <a:latin typeface="Calibri"/>
              </a:rPr>
              <a:t>·  小誤差 → MSE 行為（連續、平滑）</a:t>
            </a:r>
            <a:r>
              <a:rPr sz="1050" b="0" i="0">
                <a:solidFill>
                  <a:srgbClr val="333D47"/>
                </a:solidFill>
                <a:latin typeface="Calibri"/>
              </a:rPr>
              <a:t>·  大誤差 → MAE 行為（抗離群點）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Adam ─ 結合動量與自適應學習率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5486400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動量 mₜ</a:t>
            </a:r>
            <a:r>
              <a:rPr sz="1200">
                <a:solidFill>
                  <a:srgbClr val="333D47"/>
                </a:solidFill>
                <a:latin typeface="Calibri"/>
              </a:rPr>
              <a:t>  一階梯度指數衰減平均，平滑震盪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二階矩 vₜ</a:t>
            </a:r>
            <a:r>
              <a:rPr sz="1200">
                <a:solidFill>
                  <a:srgbClr val="333D47"/>
                </a:solidFill>
                <a:latin typeface="Calibri"/>
              </a:rPr>
              <a:t>  梯度平方均方根，逐參數縮放步長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初始學習率</a:t>
            </a:r>
            <a:r>
              <a:rPr sz="1200">
                <a:solidFill>
                  <a:srgbClr val="333D47"/>
                </a:solidFill>
                <a:latin typeface="Calibri"/>
              </a:rPr>
              <a:t>  lr = 1e-3，β₁=0.9, β₂=0.999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權重衰減</a:t>
            </a:r>
            <a:r>
              <a:rPr sz="1200">
                <a:solidFill>
                  <a:srgbClr val="333D47"/>
                </a:solidFill>
                <a:latin typeface="Calibri"/>
              </a:rPr>
              <a:t>  weight_decay = 1e-5 抑制過擬合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Cosine Annealing 學習率排程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91640"/>
            <a:ext cx="5303520" cy="2240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78308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50" b="1" i="0">
                <a:solidFill>
                  <a:srgbClr val="F9B71B"/>
                </a:solidFill>
                <a:latin typeface="Cambria"/>
              </a:rPr>
              <a:t>ηₜ = η_min + ½(η_max − η_min)·[1 + cos(T_cur/T_max · π)]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3172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8F1F8"/>
                </a:solidFill>
                <a:latin typeface="Calibri"/>
              </a:rPr>
              <a:t>·  訓練前期：</a:t>
            </a:r>
            <a:r>
              <a:rPr sz="1100" b="1" i="0">
                <a:solidFill>
                  <a:srgbClr val="F9B71B"/>
                </a:solidFill>
                <a:latin typeface="Calibri"/>
              </a:rPr>
              <a:t>高 lr 跨越局部最小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E8F1F8"/>
                </a:solidFill>
                <a:latin typeface="Calibri"/>
              </a:rPr>
              <a:t>·  訓練後期：</a:t>
            </a:r>
            <a:r>
              <a:rPr sz="1100" b="1" i="0">
                <a:solidFill>
                  <a:srgbClr val="F9B71B"/>
                </a:solidFill>
                <a:latin typeface="Calibri"/>
              </a:rPr>
              <a:t>極小步長精細收斂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E8F1F8"/>
                </a:solidFill>
                <a:latin typeface="Calibri"/>
              </a:rPr>
              <a:t>·  T_max=50, η_max=1e-3, η_min=1e-6</a:t>
            </a:r>
          </a:p>
          <a:p>
            <a:pPr algn="l">
              <a:lnSpc>
                <a:spcPct val="140000"/>
              </a:lnSpc>
            </a:pPr>
            <a:r>
              <a:rPr sz="1050" b="0" i="1">
                <a:solidFill>
                  <a:srgbClr val="E8F1F8"/>
                </a:solidFill>
                <a:latin typeface="Calibri"/>
              </a:rPr>
              <a:t>·  較固定 lr 降低 ~20% 驗證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39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訓練配置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389120"/>
            <a:ext cx="5303520" cy="2011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48056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資料切分</a:t>
            </a:r>
            <a:r>
              <a:rPr sz="1200">
                <a:solidFill>
                  <a:srgbClr val="333D47"/>
                </a:solidFill>
                <a:latin typeface="Calibri"/>
              </a:rPr>
              <a:t>  Train 80% / Val 20% (40k / 10k)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Batch</a:t>
            </a:r>
            <a:r>
              <a:rPr sz="1200">
                <a:solidFill>
                  <a:srgbClr val="333D47"/>
                </a:solidFill>
                <a:latin typeface="Calibri"/>
              </a:rPr>
              <a:t>  64  ·  fp16 mixed-precision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Epochs</a:t>
            </a:r>
            <a:r>
              <a:rPr sz="1200">
                <a:solidFill>
                  <a:srgbClr val="333D47"/>
                </a:solidFill>
                <a:latin typeface="Calibri"/>
              </a:rPr>
              <a:t>  50 epochs，Early-stop patience = 8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Loss</a:t>
            </a:r>
            <a:r>
              <a:rPr sz="1200">
                <a:solidFill>
                  <a:srgbClr val="333D47"/>
                </a:solidFill>
                <a:latin typeface="Calibri"/>
              </a:rPr>
              <a:t>  Huber (β=0.1) + L2 reg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Hardware</a:t>
            </a:r>
            <a:r>
              <a:rPr sz="1200">
                <a:solidFill>
                  <a:srgbClr val="333D47"/>
                </a:solidFill>
                <a:latin typeface="Calibri"/>
              </a:rPr>
              <a:t>  Apple M-series GPU (MPS backend)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16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07 · 結果展示與自適應校正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訓練收斂結果：Loss 與 RMS 誤差雙重監控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67512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667512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▲ training_curve.png — Demo 概念驗證跑分（4 epochs，1K 樣本）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2801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Demo 概念驗證指標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691640"/>
            <a:ext cx="4389120" cy="9601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0" y="1691640"/>
            <a:ext cx="9144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78308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Train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1488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0.0175 → 0.0135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78308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500" b="1" i="0">
                <a:solidFill>
                  <a:srgbClr val="065A82"/>
                </a:solidFill>
                <a:latin typeface="Cambria"/>
              </a:rPr>
              <a:t>↓ 收斂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770632"/>
            <a:ext cx="4389120" cy="9601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2770632"/>
            <a:ext cx="91440" cy="9601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286207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Val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22783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demo 規模有限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62072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500" b="1" i="0">
                <a:solidFill>
                  <a:srgbClr val="F9B71B"/>
                </a:solidFill>
                <a:latin typeface="Cambria"/>
              </a:rPr>
              <a:t>需更多資料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849624"/>
            <a:ext cx="4389120" cy="9601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3849624"/>
            <a:ext cx="9144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3941064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產線版規劃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30682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Val RMSE 目標 &lt; 0.1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941064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500" b="1" i="0">
                <a:solidFill>
                  <a:srgbClr val="1C7293"/>
                </a:solidFill>
                <a:latin typeface="Cambria"/>
              </a:rPr>
              <a:t>50K + 50ep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4928616"/>
            <a:ext cx="4389120" cy="9601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4928616"/>
            <a:ext cx="91440" cy="960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5020056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訓練硬體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538581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Apple M-series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020056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500" b="1" i="0">
                <a:solidFill>
                  <a:srgbClr val="21295C"/>
                </a:solidFill>
                <a:latin typeface="Cambria"/>
              </a:rPr>
              <a:t>MPS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9893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mbria"/>
              </a:rPr>
              <a:t>RMS = √( (1/14) Σⱼ ẑⱼ² 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17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07 · 結果展示與自適應校正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預測示例：14 維 Zernike 係數 Ground Truth vs. CNN 估測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diction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▲ prediction_example.png — 隨機驗證樣本之 GT 與 CNN 預測對照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觀察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691640"/>
            <a:ext cx="3383280" cy="14173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691640"/>
            <a:ext cx="73152" cy="1417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7830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Demo 模型已能辨識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1488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雖只訓練 4 epochs，模型已能對 14 階模式輸出有意義之數值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200400"/>
            <a:ext cx="3383280" cy="14173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3200400"/>
            <a:ext cx="73152" cy="1417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2918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各模式誤差差異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6576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低階 Tilt/Defocus 預測偏差較小；高階 Trefoil 振幅小、誤差比例較高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709160"/>
            <a:ext cx="3383280" cy="14173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4709160"/>
            <a:ext cx="73152" cy="14173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48006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提升路徑明確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51663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需 50K 完整資料集 + 50 epochs 訓練可顯著降低 |error|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6263640"/>
            <a:ext cx="3383280" cy="36576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62636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mbria"/>
              </a:rPr>
              <a:t>→  Demo 概念驗證成立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18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07 · 結果展示與自適應校正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不平整度（Flatness）量化指標與校正前後比較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Flatness 定義 ─ ROI 區域相對標準差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486400" cy="12801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 i="0">
                <a:solidFill>
                  <a:srgbClr val="F9B71B"/>
                </a:solidFill>
                <a:latin typeface="Cambria"/>
              </a:rPr>
              <a:t>Flatness = (σ_ROI / μ_ROI) ×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mbria"/>
              </a:rPr>
              <a:t>符號意義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σ_ROI</a:t>
            </a:r>
            <a:r>
              <a:rPr sz="1200">
                <a:solidFill>
                  <a:srgbClr val="333D47"/>
                </a:solidFill>
                <a:latin typeface="Calibri"/>
              </a:rPr>
              <a:t>  目標平頂區域內之強度標準差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μ_ROI</a:t>
            </a:r>
            <a:r>
              <a:rPr sz="1200">
                <a:solidFill>
                  <a:srgbClr val="333D47"/>
                </a:solidFill>
                <a:latin typeface="Calibri"/>
              </a:rPr>
              <a:t>  目標平頂區域內之強度平均值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65A82"/>
                </a:solidFill>
                <a:latin typeface="Calibri"/>
              </a:rPr>
              <a:t>■  </a:t>
            </a:r>
            <a:r>
              <a:rPr sz="1200" b="1">
                <a:solidFill>
                  <a:srgbClr val="21295C"/>
                </a:solidFill>
                <a:latin typeface="Calibri"/>
              </a:rPr>
              <a:t>ROI</a:t>
            </a:r>
            <a:r>
              <a:rPr sz="1200">
                <a:solidFill>
                  <a:srgbClr val="333D47"/>
                </a:solidFill>
                <a:latin typeface="Calibri"/>
              </a:rPr>
              <a:t>  由解析平頂寬度 a₂ 自動圈選之中央均勻區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5486400" cy="13716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91440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計畫目標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33D47"/>
                </a:solidFill>
                <a:latin typeface="Calibri"/>
              </a:rPr>
              <a:t>突破現有實驗 </a:t>
            </a:r>
          </a:p>
          <a:p>
            <a:pPr algn="l">
              <a:lnSpc>
                <a:spcPct val="140000"/>
              </a:lnSpc>
            </a:pPr>
            <a:r>
              <a:rPr sz="1250" b="1" i="0">
                <a:solidFill>
                  <a:srgbClr val="21295C"/>
                </a:solidFill>
                <a:latin typeface="Cambria"/>
              </a:rPr>
              <a:t>1% Flatness 上限，</a:t>
            </a:r>
            <a:r>
              <a:rPr sz="1200" b="0" i="0">
                <a:solidFill>
                  <a:srgbClr val="333D47"/>
                </a:solidFill>
                <a:latin typeface="Calibri"/>
              </a:rPr>
              <a:t>並於閉迴路內每次迭代量化監控指標衰減。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校正前後光斑對比</a:t>
            </a:r>
          </a:p>
        </p:txBody>
      </p:sp>
      <p:pic>
        <p:nvPicPr>
          <p:cNvPr id="19" name="Picture 18" descr="adaptive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303520" cy="411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585216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▲ adaptive_correction.png — 閉迴路收斂前後焦平面強度比較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6199632"/>
            <a:ext cx="5303520" cy="36576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619963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21295C"/>
                </a:solidFill>
                <a:latin typeface="Cambria"/>
              </a:rPr>
              <a:t>Demo 顯示閉迴路自動量化追蹤機制已就位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19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07 · 結果展示與自適應校正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視覺化 Web App：實時診斷與互動式校正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光斑橫截面 Cross-section</a:t>
            </a:r>
          </a:p>
        </p:txBody>
      </p:sp>
      <p:pic>
        <p:nvPicPr>
          <p:cNvPr id="10" name="Picture 9" descr="cross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94360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4406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Calibri"/>
              </a:rPr>
              <a:t>▲ ROI 中心列強度分布 — 以 ±5% 容忍帶比較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280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Web App 模組功能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691640"/>
            <a:ext cx="5029200" cy="713232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1691640"/>
            <a:ext cx="64008" cy="7132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7373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即時上傳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373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拖放 CCD 截圖或啟用即時相機串流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450592"/>
            <a:ext cx="5029200" cy="713232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450592"/>
            <a:ext cx="64008" cy="7132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96312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CNN 推論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96312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MPS 後端單張 &lt; 30 ms 預測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209544"/>
            <a:ext cx="5029200" cy="713232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3209544"/>
            <a:ext cx="64008" cy="7132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255264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ẑ 視覺化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255264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雷達圖呈現 14 維係數正負分布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968496"/>
            <a:ext cx="5029200" cy="713232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3968496"/>
            <a:ext cx="64008" cy="7132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014216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Flatness 趨勢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014216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每次迭代自動繪製衰減曲線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727448"/>
            <a:ext cx="5029200" cy="713232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4727448"/>
            <a:ext cx="64008" cy="7132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773168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Phase 預覽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73168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互動式檢視當前 SLM 共軛補償相位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5486400"/>
            <a:ext cx="5029200" cy="713232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5486400"/>
            <a:ext cx="64008" cy="7132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5532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匯出報表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5321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0">
                <a:solidFill>
                  <a:srgbClr val="333D47"/>
                </a:solidFill>
                <a:latin typeface="Calibri"/>
              </a:rPr>
              <a:t>一鍵輸出 CSV / PDF 校正記錄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20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08 · 結論、挑戰與未來展望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研究成果總結與技術路徑回顧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09728" cy="182880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9B71B"/>
                </a:solidFill>
                <a:latin typeface="Calibri"/>
              </a:rPr>
              <a:t>核心結論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8F1F8"/>
                </a:solidFill>
                <a:latin typeface="Cambria"/>
              </a:rPr>
              <a:t>本專案完整實作了一套以 </a:t>
            </a:r>
            <a:r>
              <a:rPr sz="1500" b="1" i="0">
                <a:solidFill>
                  <a:srgbClr val="FFFFFF"/>
                </a:solidFill>
                <a:latin typeface="Cambria"/>
              </a:rPr>
              <a:t>深度學習為核心的平頂光束自適應校正方案，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8F1F8"/>
                </a:solidFill>
                <a:latin typeface="Cambria"/>
              </a:rPr>
              <a:t>建立從前向模型、估測器到控制器的端到端閉迴路系統。</a:t>
            </a:r>
            <a:r>
              <a:rPr sz="1500" b="0" i="0">
                <a:solidFill>
                  <a:srgbClr val="E8F1F8"/>
                </a:solidFill>
                <a:latin typeface="Cambria"/>
              </a:rPr>
              <a:t>成功打通 </a:t>
            </a:r>
            <a:r>
              <a:rPr sz="1500" b="1" i="0">
                <a:solidFill>
                  <a:srgbClr val="F9B71B"/>
                </a:solidFill>
                <a:latin typeface="Cambria"/>
              </a:rPr>
              <a:t>Zernike 物理理論 ⇄ CNN 資料驅動</a:t>
            </a:r>
            <a:r>
              <a:rPr sz="1500" b="0" i="0">
                <a:solidFill>
                  <a:srgbClr val="E8F1F8"/>
                </a:solidFill>
                <a:latin typeface="Cambria"/>
              </a:rPr>
              <a:t> 兩種範式之鴻溝。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287" y="3383280"/>
            <a:ext cx="3657600" cy="29260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2287" y="3383280"/>
            <a:ext cx="3657600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6607" y="36576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600" b="1" i="0">
                <a:solidFill>
                  <a:srgbClr val="065A82"/>
                </a:solidFill>
                <a:latin typeface="Cambria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6767" y="3749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資料生成框架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07" y="470916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3D47"/>
                </a:solidFill>
                <a:latin typeface="Calibri"/>
              </a:rPr>
              <a:t>MATLAB → PyTorch MPS
約 200× 加速，可支撐 50K 樣本生成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047" y="3383280"/>
            <a:ext cx="3657600" cy="29260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7047" y="3383280"/>
            <a:ext cx="3657600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367" y="36576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600" b="1" i="0">
                <a:solidFill>
                  <a:srgbClr val="1C7293"/>
                </a:solidFill>
                <a:latin typeface="Cambr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1527" y="3749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CNN 估測架構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67" y="470916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3D47"/>
                </a:solidFill>
                <a:latin typeface="Calibri"/>
              </a:rPr>
              <a:t>14 階 Zernike 多輸出迴歸
Demo 已驗證模型可學習空間紋理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1807" y="3383280"/>
            <a:ext cx="3657600" cy="29260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1807" y="3383280"/>
            <a:ext cx="3657600" cy="109728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6127" y="36576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600" b="1" i="0">
                <a:solidFill>
                  <a:srgbClr val="F9B71B"/>
                </a:solidFill>
                <a:latin typeface="Cambr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6287" y="3749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21295C"/>
                </a:solidFill>
                <a:latin typeface="Cambria"/>
              </a:rPr>
              <a:t>閉迴路控制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6127" y="470916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333D47"/>
                </a:solidFill>
                <a:latin typeface="Calibri"/>
              </a:rPr>
              <a:t>Flatness 自動量化機制就位
為突破 1% 上限奠定技術基礎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21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08 · 結論、挑戰與未來展望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mbria"/>
              </a:rPr>
              <a:t>未來挑戰與因應策略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532120" cy="26060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91440" cy="26060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46304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Domain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73736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mbria"/>
              </a:rPr>
              <a:t>Sim → Real 落差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86000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純模擬資料難覆蓋真實 CCD 散粒雜訊、塵點與動態擾動。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0896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  <a:latin typeface="Calibri"/>
              </a:rPr>
              <a:t>策略：注入真實噪聲分布、收集 ~1k 實測對齊樣本進行遷移學習微調（Transfer Learning）。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280160"/>
            <a:ext cx="5532120" cy="26060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280160"/>
            <a:ext cx="91440" cy="26060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50876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46304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Mode Coupling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73736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mbria"/>
              </a:rPr>
              <a:t>高階 Zernike 耦合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86000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若 Trefoil / Quadrafoil 與低階畸變混疊，預測精度可能下降。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063240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10896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  <a:latin typeface="Calibri"/>
              </a:rPr>
              <a:t>策略：升級為 ResNet-18 殘差結構、引入注意力（CBAM）或加入 Zernike-aware 損失。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5532120" cy="26060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69080"/>
            <a:ext cx="91440" cy="260604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4297680"/>
            <a:ext cx="548640" cy="548640"/>
          </a:xfrm>
          <a:prstGeom prst="ellipse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97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21295C"/>
                </a:solidFill>
                <a:latin typeface="Cambria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25196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Loop Stability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52628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mbria"/>
              </a:rPr>
              <a:t>控制迴路震盪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74920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若步長過大或預測偏差具系統性，閉迴路可能在最佳點附近震盪。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852160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89788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  <a:latin typeface="Calibri"/>
              </a:rPr>
              <a:t>策略：步長餘弦衰減、置信度權重 + Kalman 濾波平滑化補償向量。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4069080"/>
            <a:ext cx="5532120" cy="26060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4069080"/>
            <a:ext cx="91440" cy="2606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4297680"/>
            <a:ext cx="548640" cy="54864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25196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onsolas"/>
              </a:rPr>
              <a:t>Hardware Latency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452628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700" b="1" i="0">
                <a:solidFill>
                  <a:srgbClr val="21295C"/>
                </a:solidFill>
                <a:latin typeface="Cambria"/>
              </a:rPr>
              <a:t>SLM 響應延遲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074920"/>
            <a:ext cx="5074920" cy="7772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50" b="0" i="0">
                <a:solidFill>
                  <a:srgbClr val="333D47"/>
                </a:solidFill>
                <a:latin typeface="Calibri"/>
              </a:rPr>
              <a:t>SLM 重整速率 (~60 Hz) 限制了可達之動態校正頻寬。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5852160"/>
            <a:ext cx="5074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89788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  <a:latin typeface="Calibri"/>
              </a:rPr>
              <a:t>策略：採用 LCoS-MEMS 混合架構，或於 GPU 上預載多步補償腳本。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73152" cy="25603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F9B71B"/>
                </a:solidFill>
                <a:latin typeface="Consolas"/>
              </a:rPr>
              <a:t>THANK YOU FOR YOUR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mbria"/>
              </a:rPr>
              <a:t>謝　謝　聆　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 i="1">
                <a:solidFill>
                  <a:srgbClr val="E8F1F8"/>
                </a:solidFill>
                <a:latin typeface="Cambria"/>
              </a:rPr>
              <a:t>歡迎針對技術細節、結果與未來方向提問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9527" y="4937760"/>
            <a:ext cx="3108960" cy="1188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49527" y="4937760"/>
            <a:ext cx="73152" cy="11887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8127" y="50749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9B71B"/>
                </a:solidFill>
                <a:latin typeface="Consolas"/>
              </a:rP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8127" y="53949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CNN-SLM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8127" y="58064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E8F1F8"/>
                </a:solidFill>
                <a:latin typeface="Calibri"/>
              </a:rPr>
              <a:t>Sensorless AO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41367" y="4937760"/>
            <a:ext cx="3108960" cy="1188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1367" y="4937760"/>
            <a:ext cx="73152" cy="11887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9967" y="50749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9B71B"/>
                </a:solidFill>
                <a:latin typeface="Consolas"/>
              </a:rPr>
              <a:t>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9967" y="53949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Zernike + CNN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9967" y="58064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E8F1F8"/>
                </a:solidFill>
                <a:latin typeface="Calibri"/>
              </a:rPr>
              <a:t>Closed-loop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3207" y="4937760"/>
            <a:ext cx="3108960" cy="1188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33207" y="4937760"/>
            <a:ext cx="73152" cy="1188720"/>
          </a:xfrm>
          <a:prstGeom prst="rect">
            <a:avLst/>
          </a:prstGeom>
          <a:solidFill>
            <a:srgbClr val="F9B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1807" y="50749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F9B71B"/>
                </a:solidFill>
                <a:latin typeface="Consolas"/>
              </a:rPr>
              <a:t>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1807" y="53949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2026 ·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1807" y="58064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E8F1F8"/>
                </a:solidFill>
                <a:latin typeface="Calibri"/>
              </a:rPr>
              <a:t>Technical Brief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